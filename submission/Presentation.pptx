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54864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2468880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Smart India Hackathon 2025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5303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Safety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248716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Hazard Detection + City-scale Digital Twin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880360"/>
            <a:ext cx="1207008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88036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YOLOv8 AI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728216" y="2880360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28216" y="28803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 100 Virtual Buses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66744" y="2880360"/>
            <a:ext cx="1517904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66744" y="288036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Delhi Routes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294376" y="2880360"/>
            <a:ext cx="1517904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94376" y="288036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Live WebSocket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922008" y="2880360"/>
            <a:ext cx="1906524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22008" y="2880360"/>
            <a:ext cx="19065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Emergency Pipeline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33375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35387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Transport &amp; Safety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33375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46120" y="35387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YOLOv8 · OpenCV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80760" y="33375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80760" y="35387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→ State → India-wide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75120" y="411480"/>
            <a:ext cx="2286000" cy="1371600"/>
          </a:xfrm>
          <a:prstGeom prst="rect">
            <a:avLst/>
          </a:prstGeom>
          <a:solidFill>
            <a:srgbClr val="0F1929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502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🕳️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03136" y="941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Pothole Detected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03136" y="1216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82% · BUS-023 · 2s ago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03136" y="1554480"/>
            <a:ext cx="2011680" cy="9144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03136" y="1554480"/>
            <a:ext cx="164592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75120" y="1920240"/>
            <a:ext cx="2286000" cy="1371600"/>
          </a:xfrm>
          <a:prstGeom prst="rect">
            <a:avLst/>
          </a:prstGeom>
          <a:solidFill>
            <a:srgbClr val="0F1929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03136" y="20116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803136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Alert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03136" y="27249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CRITICAL · Emergency active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75120" y="3429000"/>
            <a:ext cx="2286000" cy="1371600"/>
          </a:xfrm>
          <a:prstGeom prst="rect">
            <a:avLst/>
          </a:prstGeom>
          <a:solidFill>
            <a:srgbClr val="0F1929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03136" y="3520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803136" y="39593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Light: RED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03136" y="42336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· conf 92%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Roads Are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Dangerously Unmonitored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14630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is slow, reactive, and geographically limited — costing lives and billions of rupees annually.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920240"/>
            <a:ext cx="1920240" cy="868680"/>
          </a:xfrm>
          <a:prstGeom prst="rect">
            <a:avLst/>
          </a:prstGeom>
          <a:solidFill>
            <a:srgbClr val="0F1929"/>
          </a:solidFill>
          <a:ln w="9525">
            <a:solidFill>
              <a:srgbClr val="1E2F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011680"/>
            <a:ext cx="173736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1.53L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458822"/>
            <a:ext cx="173736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DEATHS / YEAR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0" y="1920240"/>
            <a:ext cx="1920240" cy="868680"/>
          </a:xfrm>
          <a:prstGeom prst="rect">
            <a:avLst/>
          </a:prstGeom>
          <a:solidFill>
            <a:srgbClr val="0F1929"/>
          </a:solidFill>
          <a:ln w="9525">
            <a:solidFill>
              <a:srgbClr val="1E2F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2011680"/>
            <a:ext cx="173736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crore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51760" y="2458822"/>
            <a:ext cx="173736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POTHOLES ON INDIAN ROADS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09160" y="1920240"/>
            <a:ext cx="1920240" cy="868680"/>
          </a:xfrm>
          <a:prstGeom prst="rect">
            <a:avLst/>
          </a:prstGeom>
          <a:solidFill>
            <a:srgbClr val="0F1929"/>
          </a:solidFill>
          <a:ln w="9525">
            <a:solidFill>
              <a:srgbClr val="1E2F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011680"/>
            <a:ext cx="173736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₹1.5L Cr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00600" y="2458822"/>
            <a:ext cx="173736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ECONOMIC LOSS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0" y="1920240"/>
            <a:ext cx="1920240" cy="868680"/>
          </a:xfrm>
          <a:prstGeom prst="rect">
            <a:avLst/>
          </a:prstGeom>
          <a:solidFill>
            <a:srgbClr val="0F1929"/>
          </a:solidFill>
          <a:ln w="9525">
            <a:solidFill>
              <a:srgbClr val="1E2F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011680"/>
            <a:ext cx="173736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49440" y="2458822"/>
            <a:ext cx="173736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PREVENTABLE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2944368"/>
            <a:ext cx="2697480" cy="1965960"/>
          </a:xfrm>
          <a:prstGeom prst="rect">
            <a:avLst/>
          </a:prstGeom>
          <a:solidFill>
            <a:srgbClr val="0F1929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08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" y="358444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Reporting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913632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Potholes &amp; road damage are reported days after appearing. Accidents rely on bystander calls.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2944368"/>
            <a:ext cx="2697480" cy="1965960"/>
          </a:xfrm>
          <a:prstGeom prst="rect">
            <a:avLst/>
          </a:prstGeom>
          <a:solidFill>
            <a:srgbClr val="0F1929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3108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429000" y="358444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3913632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 have zero live awareness of road conditions across city networks.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2944368"/>
            <a:ext cx="2697480" cy="1965960"/>
          </a:xfrm>
          <a:prstGeom prst="rect">
            <a:avLst/>
          </a:prstGeom>
          <a:solidFill>
            <a:srgbClr val="0F1929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108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09360" y="358444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Response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913632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Police, ambulance &amp; road authority operate in silos — no unified command.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Platform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Smart Road Safety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508760"/>
            <a:ext cx="1920240" cy="2633472"/>
          </a:xfrm>
          <a:prstGeom prst="rect">
            <a:avLst/>
          </a:prstGeom>
          <a:solidFill>
            <a:srgbClr val="0F1929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 Engine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53288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 + OpenCV CV pipeline detecting potholes, accidents, waterlogging, traffic lights in real-time.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1335024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611880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hazard types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56816" y="3611880"/>
            <a:ext cx="1088136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56816" y="3611880"/>
            <a:ext cx="1088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82–92% conf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60320" y="1508760"/>
            <a:ext cx="1920240" cy="2633472"/>
          </a:xfrm>
          <a:prstGeom prst="rect">
            <a:avLst/>
          </a:prstGeom>
          <a:solidFill>
            <a:srgbClr val="0F1929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97480" y="2148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Digital Twin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97480" y="253288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virtual buses across 10 real Delhi routes, GPS movement, live Leaflet.js map with heatmap.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97480" y="3611880"/>
            <a:ext cx="1499616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361188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coordinates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09160" y="1508760"/>
            <a:ext cx="1920240" cy="2633472"/>
          </a:xfrm>
          <a:prstGeom prst="rect">
            <a:avLst/>
          </a:prstGeom>
          <a:solidFill>
            <a:srgbClr val="0F1929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0" y="2148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Pipeline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253288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escalation: Police → Ambulance → Road Authority → Resolved with live timeline.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3611880"/>
            <a:ext cx="1252728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61188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Auto-dispatch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58000" y="1508760"/>
            <a:ext cx="1920240" cy="2633472"/>
          </a:xfrm>
          <a:prstGeom prst="rect">
            <a:avLst/>
          </a:prstGeom>
          <a:solidFill>
            <a:srgbClr val="0F1929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95160" y="2148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Dashboard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95160" y="253288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command center for each authority — notifications, work tracking, completion stats.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95160" y="3611880"/>
            <a:ext cx="1581912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3611880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authority types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11480" y="4315968"/>
            <a:ext cx="8321040" cy="603504"/>
          </a:xfrm>
          <a:prstGeom prst="rect">
            <a:avLst/>
          </a:prstGeom>
          <a:solidFill>
            <a:srgbClr val="162035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407408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"From pothole on road to authority response — fully automated, under 5 minutes."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Connects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1444752" cy="1188720"/>
          </a:xfrm>
          <a:prstGeom prst="rect">
            <a:avLst/>
          </a:prstGeom>
          <a:solidFill>
            <a:srgbClr val="0F1929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7899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Dashcam / Upload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· Video · Synthetic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19656" y="1417320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48256" y="987552"/>
            <a:ext cx="1444752" cy="1188720"/>
          </a:xfrm>
          <a:prstGeom prst="rect">
            <a:avLst/>
          </a:prstGeom>
          <a:solidFill>
            <a:srgbClr val="0F1929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48256" y="107899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39696" y="15087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Detector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39696" y="178308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 + CV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02152" y="1417320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30752" y="987552"/>
            <a:ext cx="1444752" cy="1188720"/>
          </a:xfrm>
          <a:prstGeom prst="rect">
            <a:avLst/>
          </a:prstGeom>
          <a:solidFill>
            <a:srgbClr val="0F1929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107899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22192" y="15087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Engine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22192" y="178308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asyncio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84648" y="1417320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13248" y="987552"/>
            <a:ext cx="1444752" cy="1188720"/>
          </a:xfrm>
          <a:prstGeom prst="rect">
            <a:avLst/>
          </a:prstGeom>
          <a:solidFill>
            <a:srgbClr val="0F1929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13248" y="107899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504688" y="15087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04688" y="178308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push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 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67144" y="1417320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095744" y="987552"/>
            <a:ext cx="1444752" cy="1188720"/>
          </a:xfrm>
          <a:prstGeom prst="rect">
            <a:avLst/>
          </a:prstGeom>
          <a:solidFill>
            <a:srgbClr val="0F1929"/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95744" y="107899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187184" y="15087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187184" y="178308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Map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Portal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5760" y="2331720"/>
            <a:ext cx="2743200" cy="2542032"/>
          </a:xfrm>
          <a:prstGeom prst="rect">
            <a:avLst/>
          </a:prstGeom>
          <a:solidFill>
            <a:srgbClr val="0F1929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468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Event Flow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2807208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detects hazard → AI scores 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engine stores event → Nearby buses verify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locks in → Authority gets notified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10128" y="2331720"/>
            <a:ext cx="2743200" cy="2542032"/>
          </a:xfrm>
          <a:prstGeom prst="rect">
            <a:avLst/>
          </a:prstGeom>
          <a:solidFill>
            <a:srgbClr val="0F1929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47288" y="2468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Data Models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47288" y="2807208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Bus: id, route, GPS, speed, network state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Event: type, severity, confidence, timeline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WorkItem: authority, status, notes, timestamps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emergency escalation log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54496" y="2331720"/>
            <a:ext cx="2743200" cy="2542032"/>
          </a:xfrm>
          <a:prstGeom prst="rect">
            <a:avLst/>
          </a:prstGeom>
          <a:solidFill>
            <a:srgbClr val="0F1929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91656" y="2468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Network Simulation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91656" y="2807208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chain: good / weak / offline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good→good: 91%  ·  good→weak: 8%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weak→good: 45%  ·  weak→none: 6%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queue auto-syncs on reconnect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 ENGINE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 + Computer Vision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Dual-layer Detection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4069080" cy="1783080"/>
          </a:xfrm>
          <a:prstGeom prst="rect">
            <a:avLst/>
          </a:prstGeom>
          <a:solidFill>
            <a:srgbClr val="0F1929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727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Layer 1 — YOLOv8s (21.5 MB)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9019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Vehicle / Accident Detection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886200" y="1901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3703320" cy="9144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103120"/>
            <a:ext cx="3258922" cy="914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225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Traffic Light State (R/Y/G)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86200" y="2322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523744"/>
            <a:ext cx="3703320" cy="9144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523744"/>
            <a:ext cx="3407054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432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 Pedestrian on Road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86200" y="27432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944368"/>
            <a:ext cx="3703320" cy="9144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944368"/>
            <a:ext cx="3147822" cy="91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364992"/>
            <a:ext cx="4069080" cy="1600200"/>
          </a:xfrm>
          <a:prstGeom prst="rect">
            <a:avLst/>
          </a:prstGeom>
          <a:solidFill>
            <a:srgbClr val="0F1929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747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Layer 2 — OpenCV CV Fallback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8221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🕳️ Pothole (adaptive threshold + dark pixel OR)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86200" y="38221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4023360"/>
            <a:ext cx="3703320" cy="9144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4023360"/>
            <a:ext cx="3036722" cy="914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2062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Waterlogging (blue/brown HSV pool &gt;15%)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886200" y="4206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4407408"/>
            <a:ext cx="3703320" cy="9144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407408"/>
            <a:ext cx="3370021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5902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Multi-vehicle incident (colour blob overlap)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86200" y="45902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4791456"/>
            <a:ext cx="3703320" cy="9144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4791456"/>
            <a:ext cx="2629357" cy="914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7720" y="1463040"/>
            <a:ext cx="4160520" cy="1783080"/>
          </a:xfrm>
          <a:prstGeom prst="rect">
            <a:avLst/>
          </a:prstGeom>
          <a:solidFill>
            <a:srgbClr val="0F1929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5727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Accident Multi-signal Score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19385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IoU overlap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138160" y="19385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22128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near vehicle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138160" y="221284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0" y="24871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optical flow motion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138160" y="248716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27614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vehicle cluster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138160" y="27614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+0.25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3090672"/>
            <a:ext cx="3886200" cy="0"/>
          </a:xfrm>
          <a:prstGeom prst="line">
            <a:avLst/>
          </a:prstGeom>
          <a:noFill/>
          <a:ln w="6350">
            <a:solidFill>
              <a:srgbClr val="1E2F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14553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&gt;0.45 → HIGH  ·  &gt;0.75 → CRITICAL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17720" y="3364992"/>
            <a:ext cx="4160520" cy="1600200"/>
          </a:xfrm>
          <a:prstGeom prst="rect">
            <a:avLst/>
          </a:prstGeom>
          <a:solidFill>
            <a:srgbClr val="0F1929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4747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Detection Outputs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54880" y="380390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Annotated JPEG with bounding boxes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54880" y="403250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Base64 encoded (JSON-safe)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54880" y="426110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Per-detection: class, conf, bbox, severity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54880" y="448970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Traffic density + congestion advice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54880" y="471830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Inject-to-map → live simulation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DIGITAL TWIN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Buses · 10 Routes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in Real-time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3977640" cy="1719072"/>
          </a:xfrm>
          <a:prstGeom prst="rect">
            <a:avLst/>
          </a:prstGeom>
          <a:solidFill>
            <a:srgbClr val="0F1929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10 Real Delhi Corridors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North Ring Road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0" y="19019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East Delhi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157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South Delhi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77440" y="21579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Central Corridor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4140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West Delhi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77440" y="24140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NH-48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6700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🟤 Outer Ring North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77440" y="26700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South Loop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9260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🩷 Airport Express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77440" y="29260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🩵 Inner Ring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310128"/>
            <a:ext cx="3977640" cy="1627632"/>
          </a:xfrm>
          <a:prstGeom prst="rect">
            <a:avLst/>
          </a:prstGeom>
          <a:solidFill>
            <a:srgbClr val="162035"/>
          </a:solidFill>
          <a:ln w="9525">
            <a:solidFill>
              <a:srgbClr val="1E2F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198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Simulation Engine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7307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Tick rate: 2s per step (adjustable speed)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3931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GPS: Haversine + linear waypoint interpolation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41330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 Network: Markov-chain good/weak/offline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43342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Offline queue: auto-syncs on reconnect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45354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Events: 8 types, weighted probability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47365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Verification: unverified → full (65m radius)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26280" y="1463040"/>
            <a:ext cx="1828800" cy="877824"/>
          </a:xfrm>
          <a:prstGeom prst="rect">
            <a:avLst/>
          </a:prstGeom>
          <a:solidFill>
            <a:srgbClr val="0F1929"/>
          </a:solidFill>
          <a:ln w="9525">
            <a:solidFill>
              <a:srgbClr val="1E2F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1554480"/>
            <a:ext cx="164592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100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617720" y="2007291"/>
            <a:ext cx="1645920" cy="280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BUSES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583680" y="1463040"/>
            <a:ext cx="1828800" cy="877824"/>
          </a:xfrm>
          <a:prstGeom prst="rect">
            <a:avLst/>
          </a:prstGeom>
          <a:solidFill>
            <a:srgbClr val="0F1929"/>
          </a:solidFill>
          <a:ln w="9525">
            <a:solidFill>
              <a:srgbClr val="1E2F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1554480"/>
            <a:ext cx="164592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675120" y="2007291"/>
            <a:ext cx="1645920" cy="280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26280" y="2468880"/>
            <a:ext cx="1828800" cy="877824"/>
          </a:xfrm>
          <a:prstGeom prst="rect">
            <a:avLst/>
          </a:prstGeom>
          <a:solidFill>
            <a:srgbClr val="0F1929"/>
          </a:solidFill>
          <a:ln w="9525">
            <a:solidFill>
              <a:srgbClr val="1E2F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2560320"/>
            <a:ext cx="164592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617720" y="3013131"/>
            <a:ext cx="1645920" cy="280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EVENTS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83680" y="2468880"/>
            <a:ext cx="1828800" cy="877824"/>
          </a:xfrm>
          <a:prstGeom prst="rect">
            <a:avLst/>
          </a:prstGeom>
          <a:solidFill>
            <a:srgbClr val="0F1929"/>
          </a:solidFill>
          <a:ln w="9525">
            <a:solidFill>
              <a:srgbClr val="1E2F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2560320"/>
            <a:ext cx="164592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8min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675120" y="3013131"/>
            <a:ext cx="1645920" cy="280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TTL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26280" y="3310128"/>
            <a:ext cx="4251960" cy="1627632"/>
          </a:xfrm>
          <a:prstGeom prst="rect">
            <a:avLst/>
          </a:prstGeom>
          <a:solidFill>
            <a:srgbClr val="0F1929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34198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8 Road Event Types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749040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7490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🕳️ Pothole 27%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675120" y="3749040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37490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〰️ Road Crack 18%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63440" y="4023360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40233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Waterlogging 12%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675120" y="4023360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75120" y="40233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Heavy Traffic 14%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663440" y="4297680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4297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Accident 8%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675120" y="4297680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75120" y="4297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Roadblock 8%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663440" y="4572000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45720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Fallen Tree 6%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675120" y="4572000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75120" y="45720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🐄 Animal 7%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SYSTEM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Multi-Bus Verification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Crowd-sourced Confidence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011680" cy="1874520"/>
          </a:xfrm>
          <a:prstGeom prst="rect">
            <a:avLst/>
          </a:prstGeom>
          <a:solidFill>
            <a:srgbClr val="0F1929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1600200"/>
            <a:ext cx="292608" cy="29260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3776" y="1993392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Bus Detects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" y="2350008"/>
            <a:ext cx="1755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detects hazard, AI assigns confidence 60–98%. Event logged as UNVERIFIED.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386584" y="2212848"/>
            <a:ext cx="54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50592" y="1463040"/>
            <a:ext cx="2011680" cy="1874520"/>
          </a:xfrm>
          <a:prstGeom prst="rect">
            <a:avLst/>
          </a:prstGeom>
          <a:solidFill>
            <a:srgbClr val="0F1929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78608" y="1600200"/>
            <a:ext cx="292608" cy="29260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78608" y="1993392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Bus Passes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78608" y="2350008"/>
            <a:ext cx="1755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other bus within 65 metres corroborates → status becomes PARTIALLY VERIFIED.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471416" y="2212848"/>
            <a:ext cx="54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35424" y="1463040"/>
            <a:ext cx="2011680" cy="1874520"/>
          </a:xfrm>
          <a:prstGeom prst="rect">
            <a:avLst/>
          </a:prstGeom>
          <a:solidFill>
            <a:srgbClr val="0F1929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600200"/>
            <a:ext cx="292608" cy="29260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1993392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Bus Confirms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2350008"/>
            <a:ext cx="1755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verification → FULLY VERIFIED. Confidence now actionable for authorities.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56248" y="2212848"/>
            <a:ext cx="54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20256" y="1463040"/>
            <a:ext cx="2011680" cy="1874520"/>
          </a:xfrm>
          <a:prstGeom prst="rect">
            <a:avLst/>
          </a:prstGeom>
          <a:solidFill>
            <a:srgbClr val="0F1929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48272" y="1600200"/>
            <a:ext cx="292608" cy="29260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48272" y="1993392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Notified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48272" y="2350008"/>
            <a:ext cx="1755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events routed to the correct authority type. Work item created in their dashboard.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493008"/>
            <a:ext cx="4251960" cy="1481328"/>
          </a:xfrm>
          <a:prstGeom prst="rect">
            <a:avLst/>
          </a:prstGeom>
          <a:solidFill>
            <a:srgbClr val="0F1929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6027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Why Multi-bus Verification?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39319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Eliminates single-sensor false positives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41879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Simulates crowdsourced ground truth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44439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Scales naturally — more buses = faster verification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47000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Works offline (syncs when network returns)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3493008"/>
            <a:ext cx="3977640" cy="1481328"/>
          </a:xfrm>
          <a:prstGeom prst="rect">
            <a:avLst/>
          </a:prstGeom>
          <a:solidFill>
            <a:srgbClr val="0F1929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94960" y="3749040"/>
            <a:ext cx="914400" cy="914400"/>
          </a:xfrm>
          <a:prstGeom prst="ellipse">
            <a:avLst/>
          </a:prstGeom>
          <a:solidFill>
            <a:srgbClr val="162035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0" y="3749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65m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892040" y="36027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Verification Radius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92240" y="3840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distance between bus GPS and event location. Any bus passing within 65m automatically counts as a corroboration.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Escalation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to Resolved — 6 min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536192"/>
            <a:ext cx="384048" cy="384048"/>
          </a:xfrm>
          <a:prstGeom prst="ellipse">
            <a:avLst/>
          </a:prstGeom>
          <a:solidFill>
            <a:srgbClr val="F87171">
              <a:alpha val="20000"/>
            </a:srgbClr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87552" y="1536192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Event Detected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7552" y="179222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AI flags accident / fallen tree / roadblock with high/critical severity → Emergency protocol activated immediately.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15361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+ 0s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2103120"/>
            <a:ext cx="8366760" cy="0"/>
          </a:xfrm>
          <a:prstGeom prst="line">
            <a:avLst/>
          </a:prstGeom>
          <a:noFill/>
          <a:ln w="6350">
            <a:solidFill>
              <a:srgbClr val="1E2F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194560"/>
            <a:ext cx="384048" cy="384048"/>
          </a:xfrm>
          <a:prstGeom prst="ellipse">
            <a:avLst/>
          </a:prstGeom>
          <a:solidFill>
            <a:srgbClr val="38BDF8">
              <a:alpha val="20000"/>
            </a:srgbClr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87552" y="219456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Unit Dispatched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87552" y="2450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Police receives GPS-precise alert. Nearest unit auto-assigned. Status: police_notified.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2194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+ 30s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761488"/>
            <a:ext cx="8366760" cy="0"/>
          </a:xfrm>
          <a:prstGeom prst="line">
            <a:avLst/>
          </a:prstGeom>
          <a:noFill/>
          <a:ln w="6350">
            <a:solidFill>
              <a:srgbClr val="1E2F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852928"/>
            <a:ext cx="384048" cy="384048"/>
          </a:xfrm>
          <a:prstGeom prst="ellipse">
            <a:avLst/>
          </a:prstGeom>
          <a:solidFill>
            <a:srgbClr val="FB923C">
              <a:alpha val="20000"/>
            </a:srgbClr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7552" y="285292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En Route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87552" y="31089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dashboard shows incident card. Paramedics dispatched with precise coordinates. Status: ambulance_notified.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28529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+ 90s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419856"/>
            <a:ext cx="8366760" cy="0"/>
          </a:xfrm>
          <a:prstGeom prst="line">
            <a:avLst/>
          </a:prstGeom>
          <a:noFill/>
          <a:ln w="6350">
            <a:solidFill>
              <a:srgbClr val="1E2F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511296"/>
            <a:ext cx="384048" cy="384048"/>
          </a:xfrm>
          <a:prstGeom prst="ellipse">
            <a:avLst/>
          </a:prstGeom>
          <a:solidFill>
            <a:srgbClr val="FBBF24">
              <a:alpha val="20000"/>
            </a:srgbClr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🚧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7552" y="3511296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Authority Alerted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87552" y="376732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PWD / MCD gets work order for road clearance &amp; repair. Status: authority_notified.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351129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+ 150s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4078224"/>
            <a:ext cx="8366760" cy="0"/>
          </a:xfrm>
          <a:prstGeom prst="line">
            <a:avLst/>
          </a:prstGeom>
          <a:noFill/>
          <a:ln w="6350">
            <a:solidFill>
              <a:srgbClr val="1E2F4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4169664"/>
            <a:ext cx="384048" cy="384048"/>
          </a:xfrm>
          <a:prstGeom prst="ellipse">
            <a:avLst/>
          </a:prstGeom>
          <a:solidFill>
            <a:srgbClr val="34D399">
              <a:alpha val="20000"/>
            </a:srgbClr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87552" y="4169664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Resolved &amp; Road Cleared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87552" y="442569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marks task complete on dashboard. Event archived. Heatmap updated. Full audit trail preserved.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16966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+ 6min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solidFill>
            <a:srgbClr val="162035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473659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Critical events: accident · fallen tree · roadblock  —  Only high/critical severity triggers emergency protocol.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COMMAND CENTER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Portal for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Authority Type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920240" cy="1737360"/>
          </a:xfrm>
          <a:prstGeom prst="rect">
            <a:avLst/>
          </a:prstGeom>
          <a:solidFill>
            <a:srgbClr val="0F1929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Police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Accidents, roadblocks, heavy traffic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87168" y="1463040"/>
            <a:ext cx="1920240" cy="1737360"/>
          </a:xfrm>
          <a:prstGeom prst="rect">
            <a:avLst/>
          </a:prstGeom>
          <a:solidFill>
            <a:srgbClr val="0F1929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8608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🚑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78608" y="2121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/ Ambulance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78608" y="24231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accident response only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3364992"/>
            <a:ext cx="1920240" cy="1737360"/>
          </a:xfrm>
          <a:prstGeom prst="rect">
            <a:avLst/>
          </a:prstGeom>
          <a:solidFill>
            <a:srgbClr val="0F1929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02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PWD Road Authority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32511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Potholes, cracks, waterlogging, trees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87168" y="3364992"/>
            <a:ext cx="1920240" cy="1737360"/>
          </a:xfrm>
          <a:prstGeom prst="rect">
            <a:avLst/>
          </a:prstGeom>
          <a:solidFill>
            <a:srgbClr val="0F1929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3502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578608" y="4023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Corp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78608" y="432511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Waterlogging, animals, potholes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66360" y="148132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Stats Bar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66360" y="173736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assigned, New, In Progress, Completed with animated progress bar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121408"/>
            <a:ext cx="4114800" cy="0"/>
          </a:xfrm>
          <a:prstGeom prst="line">
            <a:avLst/>
          </a:prstGeom>
          <a:noFill/>
          <a:ln w="6350">
            <a:solidFill>
              <a:srgbClr val="1E2F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166360" y="221284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Work Board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66360" y="246888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3-column board: New → In Progress → Completed with action buttons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852928"/>
            <a:ext cx="4114800" cy="0"/>
          </a:xfrm>
          <a:prstGeom prst="line">
            <a:avLst/>
          </a:prstGeom>
          <a:noFill/>
          <a:ln w="6350">
            <a:solidFill>
              <a:srgbClr val="1E2F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66360" y="294436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Toast Notifications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166360" y="320040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Pop-up alerts when new events assigned, auto-refresh every 3s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584448"/>
            <a:ext cx="4114800" cy="0"/>
          </a:xfrm>
          <a:prstGeom prst="line">
            <a:avLst/>
          </a:prstGeom>
          <a:noFill/>
          <a:ln w="6350">
            <a:solidFill>
              <a:srgbClr val="1E2F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166360" y="367588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&amp; Timeline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66360" y="393192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add field notes, full event timeline shown per card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4315968"/>
            <a:ext cx="4114800" cy="0"/>
          </a:xfrm>
          <a:prstGeom prst="line">
            <a:avLst/>
          </a:prstGeom>
          <a:noFill/>
          <a:ln w="6350">
            <a:solidFill>
              <a:srgbClr val="1E2F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166360" y="440740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Search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66360" y="466344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Critical / High / Unverified / Emergency, search by event ID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DEMO SCENARIOS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Live Detection Scenes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→ Annotated in seconds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481328"/>
            <a:ext cx="2651760" cy="1755648"/>
          </a:xfrm>
          <a:prstGeom prst="rect">
            <a:avLst/>
          </a:prstGeom>
          <a:solidFill>
            <a:srgbClr val="0F1929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15727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01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93776" y="17556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🕳️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93776" y="221284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Pothole Road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" y="248716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asphalt with 3 potholes + road cracks. CV adaptive threshold + dark-pixel OR.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93776" y="2944368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9443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potholes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591056" y="2944368"/>
            <a:ext cx="1083564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91056" y="2944368"/>
            <a:ext cx="10835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74–82%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0" y="1481328"/>
            <a:ext cx="2651760" cy="1755648"/>
          </a:xfrm>
          <a:prstGeom prst="rect">
            <a:avLst/>
          </a:prstGeom>
          <a:solidFill>
            <a:srgbClr val="0F1929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15727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02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28416" y="17556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28416" y="221284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(RED)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28416" y="248716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traffic lights on poles. YOLOv8 detects both, HSV confirms RED state.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28416" y="2944368"/>
            <a:ext cx="1472184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28416" y="2944368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traffic lights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892040" y="2944368"/>
            <a:ext cx="1083564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944368"/>
            <a:ext cx="10835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88–92%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35040" y="1481328"/>
            <a:ext cx="2651760" cy="1755648"/>
          </a:xfrm>
          <a:prstGeom prst="rect">
            <a:avLst/>
          </a:prstGeom>
          <a:solidFill>
            <a:srgbClr val="0F1929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15727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03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163056" y="17556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163056" y="221284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Accident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63056" y="248716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overlapping vehicles (different colours). CV detects cross-band bbox overlap → collision.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63056" y="2944368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29443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accident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260336" y="2944368"/>
            <a:ext cx="1239012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0336" y="2944368"/>
            <a:ext cx="12390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71% HIGH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5760" y="3401568"/>
            <a:ext cx="2651760" cy="1755648"/>
          </a:xfrm>
          <a:prstGeom prst="rect">
            <a:avLst/>
          </a:prstGeom>
          <a:solidFill>
            <a:srgbClr val="0F1929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" y="349300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04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93776" y="36758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93776" y="413308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Waterlogging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3776" y="440740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blue/muddy pool covering &gt;40% of road. HSV pool detector + stranded car.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93776" y="4864608"/>
            <a:ext cx="1161288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" y="4864608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waterlogging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746504" y="4864608"/>
            <a:ext cx="1239012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46504" y="4864608"/>
            <a:ext cx="12390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91% HIGH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00400" y="3401568"/>
            <a:ext cx="2651760" cy="1755648"/>
          </a:xfrm>
          <a:prstGeom prst="rect">
            <a:avLst/>
          </a:prstGeom>
          <a:solidFill>
            <a:srgbClr val="0F1929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28416" y="349300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05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328416" y="36758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3328416" y="413308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Traffic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28416" y="440740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cars in 3 lanes + red traffic light. YOLO detects light, CV detects road anomalies.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328416" y="4864608"/>
            <a:ext cx="1394460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28416" y="4864608"/>
            <a:ext cx="13944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traffic light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14316" y="4864608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14316" y="48646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potholes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035040" y="3401568"/>
            <a:ext cx="2651760" cy="1755648"/>
          </a:xfrm>
          <a:prstGeom prst="rect">
            <a:avLst/>
          </a:prstGeom>
          <a:solidFill>
            <a:srgbClr val="0F1929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63056" y="349300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📸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163056" y="36758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6163056" y="413308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Own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163056" y="440740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any road photo → instant AI annotation + inject to live map.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63056" y="4864608"/>
            <a:ext cx="1472184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63056" y="4864608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image format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→ State → India-wide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87552"/>
          <a:ext cx="4251960" cy="1463040"/>
        </p:xfrm>
        <a:graphic>
          <a:graphicData uri="http://schemas.openxmlformats.org/drawingml/2006/table">
            <a:tbl>
              <a:tblPr/>
              <a:tblGrid>
                <a:gridCol w="1371600"/>
                <a:gridCol w="777240"/>
                <a:gridCol w="914400"/>
                <a:gridCol w="685800"/>
                <a:gridCol w="502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MODE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EVENTS/MIN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LAG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(100)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(1K)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18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(10K)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18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2633472"/>
            <a:ext cx="4251960" cy="2286000"/>
          </a:xfrm>
          <a:prstGeom prst="rect">
            <a:avLst/>
          </a:prstGeom>
          <a:solidFill>
            <a:srgbClr val="0F1929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27432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India-wide Extrapolation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0906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 BEST Mumbai alone: 3,400 buses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02920" y="34198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 DTC Delhi: 7,000+ buses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2920" y="3749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All India state RTCs: ~1.5 lakh buses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2920" y="40782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Cities with GPS fleet: 500+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800600" y="987552"/>
            <a:ext cx="4069080" cy="1719072"/>
          </a:xfrm>
          <a:prstGeom prst="rect">
            <a:avLst/>
          </a:prstGeom>
          <a:solidFill>
            <a:srgbClr val="0F1929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0" y="1097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Horizontal Scaling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37760" y="14447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Asyncio event loop — non-blocking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937760" y="1737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WebSocket fan-out to N clients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937760" y="20299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Scale parameter multiplies all metrics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37760" y="23225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Deploy on cloud — Redis + Kafka ready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800600" y="2834640"/>
            <a:ext cx="4069080" cy="2084832"/>
          </a:xfrm>
          <a:prstGeom prst="rect">
            <a:avLst/>
          </a:prstGeom>
          <a:solidFill>
            <a:srgbClr val="0F1929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0" y="2944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Future: Real IoT Integration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937760" y="3291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Replace simulated buses with real GPS trackers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937760" y="3584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Plug in dashcam feeds from bus CCTV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937760" y="38770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OpenStreetMap + GTFS route data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937760" y="41696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SMS/push alerts to civic workers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Production-grade Tools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2029968" cy="530352"/>
          </a:xfrm>
          <a:prstGeom prst="rect">
            <a:avLst/>
          </a:prstGeom>
          <a:solidFill>
            <a:srgbClr val="0F1929"/>
          </a:solidFill>
          <a:ln w="9525">
            <a:solidFill>
              <a:srgbClr val="1E2F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42416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0607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280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78608" y="987552"/>
            <a:ext cx="2029968" cy="530352"/>
          </a:xfrm>
          <a:prstGeom prst="rect">
            <a:avLst/>
          </a:prstGeom>
          <a:solidFill>
            <a:srgbClr val="0F1929"/>
          </a:solidFill>
          <a:ln w="9525">
            <a:solidFill>
              <a:srgbClr val="1E2F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0048" y="1042416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172968" y="10607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72968" y="1280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/ image processing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91456" y="987552"/>
            <a:ext cx="2029968" cy="530352"/>
          </a:xfrm>
          <a:prstGeom prst="rect">
            <a:avLst/>
          </a:prstGeom>
          <a:solidFill>
            <a:srgbClr val="0F1929"/>
          </a:solidFill>
          <a:ln w="9525">
            <a:solidFill>
              <a:srgbClr val="1E2F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1042416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85816" y="10607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85816" y="1280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WebSocket API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004304" y="987552"/>
            <a:ext cx="2029968" cy="530352"/>
          </a:xfrm>
          <a:prstGeom prst="rect">
            <a:avLst/>
          </a:prstGeom>
          <a:solidFill>
            <a:srgbClr val="0F1929"/>
          </a:solidFill>
          <a:ln w="9525">
            <a:solidFill>
              <a:srgbClr val="1E2F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95744" y="1042416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598664" y="10607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98664" y="1280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sim loop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1645920"/>
            <a:ext cx="2029968" cy="530352"/>
          </a:xfrm>
          <a:prstGeom prst="rect">
            <a:avLst/>
          </a:prstGeom>
          <a:solidFill>
            <a:srgbClr val="0F1929"/>
          </a:solidFill>
          <a:ln w="9525">
            <a:solidFill>
              <a:srgbClr val="1E2F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700784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17190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1938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78608" y="1645920"/>
            <a:ext cx="2029968" cy="530352"/>
          </a:xfrm>
          <a:prstGeom prst="rect">
            <a:avLst/>
          </a:prstGeom>
          <a:solidFill>
            <a:srgbClr val="0F1929"/>
          </a:solidFill>
          <a:ln w="9525">
            <a:solidFill>
              <a:srgbClr val="1E2F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70048" y="1700784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172968" y="17190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leaflet.heat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72968" y="1938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heatmap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91456" y="1645920"/>
            <a:ext cx="2029968" cy="530352"/>
          </a:xfrm>
          <a:prstGeom prst="rect">
            <a:avLst/>
          </a:prstGeom>
          <a:solidFill>
            <a:srgbClr val="0F1929"/>
          </a:solidFill>
          <a:ln w="9525">
            <a:solidFill>
              <a:srgbClr val="1E2F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1700784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85816" y="17190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85816" y="1938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runtime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004304" y="1645920"/>
            <a:ext cx="2029968" cy="530352"/>
          </a:xfrm>
          <a:prstGeom prst="rect">
            <a:avLst/>
          </a:prstGeom>
          <a:solidFill>
            <a:srgbClr val="0F1929"/>
          </a:solidFill>
          <a:ln w="9525">
            <a:solidFill>
              <a:srgbClr val="1E2F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95744" y="1700784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598664" y="17190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598664" y="1938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/ matrix ops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2304288"/>
            <a:ext cx="2029968" cy="530352"/>
          </a:xfrm>
          <a:prstGeom prst="rect">
            <a:avLst/>
          </a:prstGeom>
          <a:solidFill>
            <a:srgbClr val="0F1929"/>
          </a:solidFill>
          <a:ln w="9525">
            <a:solidFill>
              <a:srgbClr val="1E2F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359152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60120" y="23774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60120" y="2596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model wrapper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578608" y="2304288"/>
            <a:ext cx="2029968" cy="530352"/>
          </a:xfrm>
          <a:prstGeom prst="rect">
            <a:avLst/>
          </a:prstGeom>
          <a:solidFill>
            <a:srgbClr val="0F1929"/>
          </a:solidFill>
          <a:ln w="9525">
            <a:solidFill>
              <a:srgbClr val="1E2F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70048" y="2359152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172968" y="23774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172968" y="2596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push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91456" y="2304288"/>
            <a:ext cx="2029968" cy="530352"/>
          </a:xfrm>
          <a:prstGeom prst="rect">
            <a:avLst/>
          </a:prstGeom>
          <a:solidFill>
            <a:srgbClr val="0F1929"/>
          </a:solidFill>
          <a:ln w="9525">
            <a:solidFill>
              <a:srgbClr val="1E2F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82896" y="2359152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385816" y="23774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CartoDB Tiles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385816" y="2596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map tiles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004304" y="2304288"/>
            <a:ext cx="2029968" cy="530352"/>
          </a:xfrm>
          <a:prstGeom prst="rect">
            <a:avLst/>
          </a:prstGeom>
          <a:solidFill>
            <a:srgbClr val="0F1929"/>
          </a:solidFill>
          <a:ln w="9525">
            <a:solidFill>
              <a:srgbClr val="1E2F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95744" y="2359152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598664" y="23774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598664" y="2596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distance calc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65760" y="3090672"/>
            <a:ext cx="8412480" cy="1389888"/>
          </a:xfrm>
          <a:prstGeom prst="rect">
            <a:avLst/>
          </a:prstGeom>
          <a:solidFill>
            <a:srgbClr val="162035"/>
          </a:solidFill>
          <a:ln w="9525">
            <a:solidFill>
              <a:srgbClr val="1E2F4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32186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~1,800</a:t>
            </a:r>
            <a:endParaRPr lang="en-US" sz="3600" dirty="0"/>
          </a:p>
        </p:txBody>
      </p:sp>
      <p:sp>
        <p:nvSpPr>
          <p:cNvPr id="54" name="Text 52"/>
          <p:cNvSpPr/>
          <p:nvPr/>
        </p:nvSpPr>
        <p:spPr>
          <a:xfrm>
            <a:off x="457200" y="38953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PYTHON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377440" y="3163824"/>
            <a:ext cx="0" cy="1243584"/>
          </a:xfrm>
          <a:prstGeom prst="line">
            <a:avLst/>
          </a:prstGeom>
          <a:noFill/>
          <a:ln w="6350">
            <a:solidFill>
              <a:srgbClr val="1E2F4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78608" y="32186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~2,600</a:t>
            </a:r>
            <a:endParaRPr lang="en-US" sz="3600" dirty="0"/>
          </a:p>
        </p:txBody>
      </p:sp>
      <p:sp>
        <p:nvSpPr>
          <p:cNvPr id="57" name="Text 55"/>
          <p:cNvSpPr/>
          <p:nvPr/>
        </p:nvSpPr>
        <p:spPr>
          <a:xfrm>
            <a:off x="2578608" y="38953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HTML/JS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498848" y="3163824"/>
            <a:ext cx="0" cy="1243584"/>
          </a:xfrm>
          <a:prstGeom prst="line">
            <a:avLst/>
          </a:prstGeom>
          <a:noFill/>
          <a:ln w="6350">
            <a:solidFill>
              <a:srgbClr val="1E2F4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00016" y="32186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60" name="Text 58"/>
          <p:cNvSpPr/>
          <p:nvPr/>
        </p:nvSpPr>
        <p:spPr>
          <a:xfrm>
            <a:off x="4700016" y="38953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DASHBOARDS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620256" y="3163824"/>
            <a:ext cx="0" cy="1243584"/>
          </a:xfrm>
          <a:prstGeom prst="line">
            <a:avLst/>
          </a:prstGeom>
          <a:noFill/>
          <a:ln w="6350">
            <a:solidFill>
              <a:srgbClr val="1E2F4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21424" y="32186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3600" dirty="0"/>
          </a:p>
        </p:txBody>
      </p:sp>
      <p:sp>
        <p:nvSpPr>
          <p:cNvPr id="63" name="Text 61"/>
          <p:cNvSpPr/>
          <p:nvPr/>
        </p:nvSpPr>
        <p:spPr>
          <a:xfrm>
            <a:off x="6821424" y="38953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Lives Through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4069080" cy="1920240"/>
          </a:xfrm>
          <a:prstGeom prst="rect">
            <a:avLst/>
          </a:prstGeom>
          <a:solidFill>
            <a:srgbClr val="0F1929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72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Demonstrated Impact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speed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1956816"/>
            <a:ext cx="2468880" cy="128016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1956816"/>
            <a:ext cx="2345436" cy="12801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0832" y="1920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1762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0" y="2212848"/>
            <a:ext cx="2468880" cy="128016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2212848"/>
            <a:ext cx="2024482" cy="12801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21762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4323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0" y="2468880"/>
            <a:ext cx="2468880" cy="128016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2468880"/>
            <a:ext cx="617220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24323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268833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0" y="2724912"/>
            <a:ext cx="2468880" cy="128016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2724912"/>
            <a:ext cx="2468880" cy="12801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70832" y="26883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30175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faster detection · 82% faster response · 25% false-positive rate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65760" y="3511296"/>
            <a:ext cx="4069080" cy="1426464"/>
          </a:xfrm>
          <a:prstGeom prst="rect">
            <a:avLst/>
          </a:prstGeom>
          <a:solidFill>
            <a:srgbClr val="162035"/>
          </a:solidFill>
          <a:ln w="9525">
            <a:solidFill>
              <a:srgbClr val="1E2F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6210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 Advantage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39502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Uses existing bus GPS + dashcams — zero new hardware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41879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Model size: 21.5 MB — runs on Raspberry Pi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44256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Open source stack — ₹0 licensing cost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46634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 server handles 100+ buses real-time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1463040"/>
            <a:ext cx="4251960" cy="3474720"/>
          </a:xfrm>
          <a:prstGeom prst="rect">
            <a:avLst/>
          </a:prstGeom>
          <a:solidFill>
            <a:srgbClr val="0F1929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5727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Phase 2 Roadmap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984248"/>
            <a:ext cx="347472" cy="347472"/>
          </a:xfrm>
          <a:prstGeom prst="ellipse">
            <a:avLst/>
          </a:prstGeom>
          <a:solidFill>
            <a:srgbClr val="38BDF8">
              <a:alpha val="20000"/>
            </a:srgbClr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📡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30368" y="20025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IoT Integration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30368" y="2258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+ dashcam from actual BEST / DTC buses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19472" y="2331720"/>
            <a:ext cx="0" cy="420624"/>
          </a:xfrm>
          <a:prstGeom prst="line">
            <a:avLst/>
          </a:prstGeom>
          <a:noFill/>
          <a:ln w="9525">
            <a:solidFill>
              <a:srgbClr val="1E2F47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754880" y="2788920"/>
            <a:ext cx="347472" cy="347472"/>
          </a:xfrm>
          <a:prstGeom prst="ellipse">
            <a:avLst/>
          </a:prstGeom>
          <a:solidFill>
            <a:srgbClr val="34D399">
              <a:alpha val="20000"/>
            </a:srgbClr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🏋️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30368" y="28072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Pothole Model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30368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YOLOv8 trained on IDD / BDD100k dataset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19472" y="3136392"/>
            <a:ext cx="0" cy="420624"/>
          </a:xfrm>
          <a:prstGeom prst="line">
            <a:avLst/>
          </a:prstGeom>
          <a:noFill/>
          <a:ln w="9525">
            <a:solidFill>
              <a:srgbClr val="1E2F47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4754880" y="3593592"/>
            <a:ext cx="347472" cy="347472"/>
          </a:xfrm>
          <a:prstGeom prst="ellipse">
            <a:avLst/>
          </a:prstGeom>
          <a:solidFill>
            <a:srgbClr val="FB923C">
              <a:alpha val="20000"/>
            </a:srgbClr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593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📱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30368" y="36118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Officers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30368" y="3867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worker app with offline detection capability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919472" y="3941064"/>
            <a:ext cx="0" cy="420624"/>
          </a:xfrm>
          <a:prstGeom prst="line">
            <a:avLst/>
          </a:prstGeom>
          <a:noFill/>
          <a:ln w="9525">
            <a:solidFill>
              <a:srgbClr val="1E2F47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4754880" y="4398264"/>
            <a:ext cx="347472" cy="347472"/>
          </a:xfrm>
          <a:prstGeom prst="ellipse">
            <a:avLst/>
          </a:prstGeom>
          <a:solidFill>
            <a:srgbClr val="F472B6">
              <a:alpha val="20000"/>
            </a:srgbClr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4398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☁️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230368" y="44165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 (Redis + Kafka)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30368" y="4672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message queue for 10K+ buses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182880"/>
            <a:ext cx="5486400" cy="4572000"/>
          </a:xfrm>
          <a:prstGeom prst="ellipse">
            <a:avLst/>
          </a:prstGeom>
          <a:solidFill>
            <a:srgbClr val="38BDF8">
              <a:alpha val="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347472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Safety AI System — Smart India Hackathon 2025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724912"/>
            <a:ext cx="1883664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2491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YOLOv8s Detection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871216" y="2724912"/>
            <a:ext cx="1964131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71216" y="2724912"/>
            <a:ext cx="19641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 100-Bus Simulation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999939" y="2724912"/>
            <a:ext cx="1964131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99939" y="2724912"/>
            <a:ext cx="19641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Emergency Pipeline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128662" y="2724912"/>
            <a:ext cx="2125066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28662" y="2724912"/>
            <a:ext cx="21250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Authority Dashboard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20240" y="3154680"/>
            <a:ext cx="2194560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31546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Launch City Simulation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83480" y="3154680"/>
            <a:ext cx="2194560" cy="43891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31546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Authority Dashboard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79476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65760" y="44074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TYPES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920240" y="3767328"/>
            <a:ext cx="0" cy="914400"/>
          </a:xfrm>
          <a:prstGeom prst="line">
            <a:avLst/>
          </a:prstGeom>
          <a:noFill/>
          <a:ln w="6350">
            <a:solidFill>
              <a:srgbClr val="1E2F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48256" y="379476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048256" y="44074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BUSES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602736" y="3767328"/>
            <a:ext cx="0" cy="914400"/>
          </a:xfrm>
          <a:prstGeom prst="line">
            <a:avLst/>
          </a:prstGeom>
          <a:noFill/>
          <a:ln w="6350">
            <a:solidFill>
              <a:srgbClr val="1E2F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30752" y="379476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730752" y="44074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285232" y="3767328"/>
            <a:ext cx="0" cy="914400"/>
          </a:xfrm>
          <a:prstGeom prst="line">
            <a:avLst/>
          </a:prstGeom>
          <a:noFill/>
          <a:ln w="6350">
            <a:solidFill>
              <a:srgbClr val="1E2F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13248" y="379476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413248" y="44074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RESPONSE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967728" y="3767328"/>
            <a:ext cx="0" cy="914400"/>
          </a:xfrm>
          <a:prstGeom prst="line">
            <a:avLst/>
          </a:prstGeom>
          <a:noFill/>
          <a:ln w="6350">
            <a:solidFill>
              <a:srgbClr val="1E2F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95744" y="379476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095744" y="44074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CAPACITY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4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  ·  Zero Cloud  ·  Zero External APIs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 Safety AI System</dc:title>
  <dc:subject>PptxGenJS Presentation</dc:subject>
  <dc:creator>PptxGenJS</dc:creator>
  <cp:lastModifiedBy>PptxGenJS</cp:lastModifiedBy>
  <cp:revision>1</cp:revision>
  <dcterms:created xsi:type="dcterms:W3CDTF">2026-05-30T08:30:06Z</dcterms:created>
  <dcterms:modified xsi:type="dcterms:W3CDTF">2026-05-30T08:30:06Z</dcterms:modified>
</cp:coreProperties>
</file>